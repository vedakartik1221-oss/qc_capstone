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respected professors, external examiners, and colleagues.</a:t>
            </a:r>
          </a:p>
          <a:p>
            <a:r>
              <a:t>Welcome to my capstone presentation titled 'Quantum Computing-Based Drug Screening System to Identify Promising Drug Candidates'.</a:t>
            </a:r>
          </a:p>
          <a:p/>
          <a:p>
            <a:r>
              <a:t>In this project, we have designed, implemented, and empirically benchmarked a complete hybrid quantum-classical drug screening pipeline.</a:t>
            </a:r>
          </a:p>
          <a:p>
            <a:r>
              <a:t>We target Beta-Secretase 1 (BACE-1), a central enzymatic target in Alzheimer's disease pathology.</a:t>
            </a:r>
          </a:p>
          <a:p>
            <a:r>
              <a:t>We use real experimental data from MoleculeNet, extract chemical features with RDKit, predict biological activity with Random Forest, and formulate the fixed-budget candidate selection problem as a QUBO problem solved variationally using QAOA on a local Qiskit Aer quantum simulator.</a:t>
            </a:r>
          </a:p>
          <a:p/>
          <a:p>
            <a:r>
              <a:t>Over the next 15 minutes, I will walk you through the biological problem, our mathematical formulation, the quantum circuit architecture, our classical benchmarking results, and a live demonstration of the full-stack web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us begin with the problem statement.</a:t>
            </a:r>
          </a:p>
          <a:p>
            <a:r>
              <a:t>In drug discovery, targeting Alzheimer's disease has been notoriously difficult. BACE-1 is the key rate-limiting enzyme responsible for producing toxic amyloid-beta peptides that destroy synapses in the brain.</a:t>
            </a:r>
          </a:p>
          <a:p>
            <a:r>
              <a:t>While computational virtual screening can identify dozens or hundreds of prospective compounds, wet-lab synthesis, crystallography, and animal trials are prohibitively expensive.</a:t>
            </a:r>
          </a:p>
          <a:p/>
          <a:p>
            <a:r>
              <a:t>A research team typically has the funding and capacity to advance only K candidates—say, 3 molecules—out of a library of N candidates.</a:t>
            </a:r>
          </a:p>
          <a:p>
            <a:r>
              <a:t>If we only sort by predicted binding affinity, we risk selecting molecules with poor drug-likeness, bad blood-brain barrier permeability, or structural redundancy.</a:t>
            </a:r>
          </a:p>
          <a:p>
            <a:r>
              <a:t>Therefore, candidate selection requires multi-objective optimization under strict budget constraints.</a:t>
            </a:r>
          </a:p>
          <a:p>
            <a:r>
              <a:t>This is fundamentally a combinatorial optimization problem, which we map onto a quantum computer using QAOA.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Slide 3, we show our project objectives and the complete system architecture.</a:t>
            </a:r>
          </a:p>
          <a:p>
            <a:r>
              <a:t>Our goal is to build an end-to-end, runnable system.</a:t>
            </a:r>
          </a:p>
          <a:p>
            <a:r>
              <a:t>Look at the architecture flowchart on the right:</a:t>
            </a:r>
          </a:p>
          <a:p>
            <a:r>
              <a:t>1. We start with real experimental data from MoleculeNet BACE.</a:t>
            </a:r>
          </a:p>
          <a:p>
            <a:r>
              <a:t>2. We extract both topological Morgan fingerprints (ECFP4) and continuous physicochemical descriptors.</a:t>
            </a:r>
          </a:p>
          <a:p>
            <a:r>
              <a:t>3. We train a classical Random Forest classifier to estimate the probability that a molecule is active.</a:t>
            </a:r>
          </a:p>
          <a:p>
            <a:r>
              <a:t>4. We combine predicted probability, binding affinity, and Lipinski rule compliance into a composite score.</a:t>
            </a:r>
          </a:p>
          <a:p>
            <a:r>
              <a:t>5. We formulate the selection problem as a QUBO and map it to an Ising Cost Hamiltonian.</a:t>
            </a:r>
          </a:p>
          <a:p>
            <a:r>
              <a:t>6. QAOA executes variational quantum circuits on the Qiskit Aer simulator, which we benchmark against classical exact enumeration.</a:t>
            </a:r>
          </a:p>
          <a:p>
            <a:r>
              <a:t>Notice the division of labor: classical ML handles large-scale supervised learning, while the quantum processor optimizes the discrete combinatorial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breaks down the proposed algorithm into four systematic stages.</a:t>
            </a:r>
          </a:p>
          <a:p>
            <a:r>
              <a:t>In Step 1, data quality control and featurization are performed using RDKit. We clean 1,513 real compounds from MoleculeNet BACE. For each compound, we compute both 512-bit Morgan fingerprints and 7 physicochemical descriptors.</a:t>
            </a:r>
          </a:p>
          <a:p>
            <a:r>
              <a:t>In Step 2, we train a Random Forest model on 1,210 training compounds. We strictly fit the scaler only on the training set to prevent data leakage.</a:t>
            </a:r>
          </a:p>
          <a:p>
            <a:r>
              <a:t>In Step 3, we define the composite candidate score s_i. It gives 60% weight to ML predicted activity, 25% weight to experimental binding affinity (pIC50), and 15% weight to Lipinski rule compliance.</a:t>
            </a:r>
          </a:p>
          <a:p>
            <a:r>
              <a:t>In Step 4, we formulate the QUBO, map it to Pauli-Z spins, build the QAOA circuit, optimize parameters with COBYLA, and sample the optimal bitstring on Qiskit Aer.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presents the mathematical heart of our quantum formulation.</a:t>
            </a:r>
          </a:p>
          <a:p>
            <a:r>
              <a:t>Our optimization goal is to maximize total score sum(s_i * x_i) subject to sum(x_i) = K.</a:t>
            </a:r>
          </a:p>
          <a:p>
            <a:r>
              <a:t>To solve this on an unconstrained optimizer, we introduce a quadratic cardinality penalty A*(sum x_i - K)^2.</a:t>
            </a:r>
          </a:p>
          <a:p>
            <a:r>
              <a:t>By expanding this quadratic term and using the idempotent property of binary variables (x_i squared equals x_i), we get our QUBO objective.</a:t>
            </a:r>
          </a:p>
          <a:p/>
          <a:p>
            <a:r>
              <a:t>Then, we analytically map each binary variable x_i to the Pauli-Z operator: x_i = (I - Z_i)/2.</a:t>
            </a:r>
          </a:p>
          <a:p>
            <a:r>
              <a:t>Notice the exact analytical formulas we derived on the right:</a:t>
            </a:r>
          </a:p>
          <a:p>
            <a:r>
              <a:t>- The single-qubit longitudinal field h_i is simply s_i / 2 + (A/2)*(2K - N).</a:t>
            </a:r>
          </a:p>
          <a:p>
            <a:r>
              <a:t>- The two-qubit Ising coupling J_ij is simply A / 2 for every interacting pair.</a:t>
            </a:r>
          </a:p>
          <a:p>
            <a:r>
              <a:t>We tested this formulation in pytest across all 2^N basis states, and the quantum Hamiltonian eigenvalues match the classical QUBO energy down to the 5th decimal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illustrates our QAOA quantum circuit architecture and the exact pseudocode.</a:t>
            </a:r>
          </a:p>
          <a:p>
            <a:r>
              <a:t>Look at the circuit diagram on the left:</a:t>
            </a:r>
          </a:p>
          <a:p>
            <a:r>
              <a:t>First, all qubits are initialized in the equal superposition state |+&gt; using Hadamard gates.</a:t>
            </a:r>
          </a:p>
          <a:p>
            <a:r>
              <a:t>Next, we apply the Cost Unitary U(C, gamma). This translates directly into single-qubit RZ gates for the longitudinal fields and two-qubit RZZ gates for pairwise Ising couplings.</a:t>
            </a:r>
          </a:p>
          <a:p>
            <a:r>
              <a:t>Then, we apply the Mixer Unitary U(B, beta), implemented as single-qubit RX gates, which drive quantum transitions between computational basis states.</a:t>
            </a:r>
          </a:p>
          <a:p>
            <a:r>
              <a:t>This alternating sequence is repeated for depth p.</a:t>
            </a:r>
          </a:p>
          <a:p/>
          <a:p>
            <a:r>
              <a:t>On the right is our pseudocode. The classical COBYLA optimizer iteratively evaluates the energy expectation and adjusts gamma and beta.</a:t>
            </a:r>
          </a:p>
          <a:p>
            <a:r>
              <a:t>Once optimal angles are found, we run measurement sampling with 1,024 shots on the Aer simulator, decode the bitstrings, check cardinality feasibility, and output the selected candidates.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discusses algorithmic complexity and NISQ feasibility with complete scientific honesty.</a:t>
            </a:r>
          </a:p>
          <a:p>
            <a:r>
              <a:t>Let us examine the table:</a:t>
            </a:r>
          </a:p>
          <a:p>
            <a:r>
              <a:t>Classical greedy Top-K sorting runs in O(N log N) time and is practically instantaneous.</a:t>
            </a:r>
          </a:p>
          <a:p>
            <a:r>
              <a:t>Exact classical QUBO evaluates all 2^N bitstrings. It works fast for small instances (N &lt;= 20), but becomes mathematically intractable once N exceeds 30 or 40.</a:t>
            </a:r>
          </a:p>
          <a:p>
            <a:r>
              <a:t>When simulating QAOA on classical computers, we face an exponential memory wall: 30 qubits requires 16 Gigabytes, and 40 qubits requires 16 Terabytes.</a:t>
            </a:r>
          </a:p>
          <a:p>
            <a:r>
              <a:t>This is precisely why we screen manageable candidate subsets (N = 8) on simulators.</a:t>
            </a:r>
          </a:p>
          <a:p/>
          <a:p>
            <a:r>
              <a:t>Furthermore, we must be honest about quantum advantage: QAOA does not beat classical sorting for purely linear problems.</a:t>
            </a:r>
          </a:p>
          <a:p>
            <a:r>
              <a:t>The real quantum opportunity arises when we introduce non-linear pairwise chemical interactions—such as pharmacophore diversity constraints and cross-reactivity penalties—making the landscape NP-hard and non-convex.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showcases our empirical results for the first stage: biological activity prediction.</a:t>
            </a:r>
          </a:p>
          <a:p>
            <a:r>
              <a:t>These are real numbers generated from running the model on the held-out test set of 303 compounds.</a:t>
            </a:r>
          </a:p>
          <a:p>
            <a:r>
              <a:t>Looking at the confusion matrix on the left: the model correctly classified 131 true inactives and 107 true active inhibitors.</a:t>
            </a:r>
          </a:p>
          <a:p>
            <a:r>
              <a:t>Looking at the ROC curve in the center: the area under the curve is 0.8794, demonstrating strong discriminative power far above the random diagonal baseline.</a:t>
            </a:r>
          </a:p>
          <a:p>
            <a:r>
              <a:t>Overall, test accuracy reached 78.55% and the F1-score reached 0.7670.</a:t>
            </a:r>
          </a:p>
          <a:p>
            <a:r>
              <a:t>This confirms our machine learning pipeline provides high-quality, calibrated probabilities to feed into the composite scoring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presents our quantum optimization results and classical benchmarking for N=8 candidate molecules and budget K=3.</a:t>
            </a:r>
          </a:p>
          <a:p>
            <a:r>
              <a:t>Look at the benchmark table at the top:</a:t>
            </a:r>
          </a:p>
          <a:p>
            <a:r>
              <a:t>QAOA on Qiskit Aer successfully converged to the global optimum:</a:t>
            </a:r>
          </a:p>
          <a:p>
            <a:r>
              <a:t>- Final objective energy: -1.7179.</a:t>
            </a:r>
          </a:p>
          <a:p>
            <a:r>
              <a:t>- Optimality gap: 0.0000.</a:t>
            </a:r>
          </a:p>
          <a:p>
            <a:r>
              <a:t>- Overlap with the exact brute-force optimum: 100.0%.</a:t>
            </a:r>
          </a:p>
          <a:p>
            <a:r>
              <a:t>All three methods agreed on the exact same optimal bitstring: 10100010.</a:t>
            </a:r>
          </a:p>
          <a:p/>
          <a:p>
            <a:r>
              <a:t>Now observe the two graphs below:</a:t>
            </a:r>
          </a:p>
          <a:p>
            <a:r>
              <a:t>On the left is the COBYLA optimizer convergence curve across iterations, showing smooth descent to the energy minimum.</a:t>
            </a:r>
          </a:p>
          <a:p>
            <a:r>
              <a:t>On the right is the measurement probability distribution from 1,024 shots.</a:t>
            </a:r>
          </a:p>
          <a:p>
            <a:r>
              <a:t>Notice the green bars representing feasible states where sum(x_i) = 3: the feasible sample rate reached 45.7%, meaning nearly half of all raw quantum shots satisfied the cardinality constraint without any repair needed!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inspects the actual molecules selected by the optimal bitstring 10100010.</a:t>
            </a:r>
          </a:p>
          <a:p>
            <a:r>
              <a:t>On the left, we render the 2D chemical structures of the top three selected leads.</a:t>
            </a:r>
          </a:p>
          <a:p>
            <a:r>
              <a:t>Notice our top candidate, MOL_BACE_558:</a:t>
            </a:r>
          </a:p>
          <a:p>
            <a:r>
              <a:t>- It has an 87.2% predicted probability of biological activity.</a:t>
            </a:r>
          </a:p>
          <a:p>
            <a:r>
              <a:t>- Its experimentally measured pIC50 is 7.59, corresponding to a potent nanomolar binding affinity (approx. 26 nM).</a:t>
            </a:r>
          </a:p>
          <a:p>
            <a:r>
              <a:t>- It satisfies 100% of Lipinski's Rule of 5 criteria with 0 violations.</a:t>
            </a:r>
          </a:p>
          <a:p>
            <a:r>
              <a:t>- Its overall composite score is 0.923.</a:t>
            </a:r>
          </a:p>
          <a:p>
            <a:r>
              <a:t>The other two molecules, MOL_BACE_1111 and MOL_BACE_1121, round out the budget of K=3.</a:t>
            </a:r>
          </a:p>
          <a:p>
            <a:r>
              <a:t>This demonstrates how our system balances predicted activity, experimental affinity, and drug-likeness.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highlights our software engineering implementation and web application.</a:t>
            </a:r>
          </a:p>
          <a:p>
            <a:r>
              <a:t>This is not a theoretical prototype or a script; it is a full-stack, modular software system.</a:t>
            </a:r>
          </a:p>
          <a:p>
            <a:r>
              <a:t>On the left, notice our clean project architecture with complete separation of concerns between chemistry, machine learning, quantum optimization, and evaluation. We have 21 automated pytest tests verifying every module.</a:t>
            </a:r>
          </a:p>
          <a:p>
            <a:r>
              <a:t>In the center, our multi-page Streamlit application provides six functional pages. Users can inspect 2D chemical structures, input custom SMILES strings to get real-time predictions, run QAOA with custom depths and shots, and download the prioritized candidate list as a CSV.</a:t>
            </a:r>
          </a:p>
          <a:p>
            <a:r>
              <a:t>On the right, we emphasize reproducibility: fixed seeds, pinned requirements, and zero mock buttons.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Slide 12, we address scientific limitations and ethical considerations with utmost transparency.</a:t>
            </a:r>
          </a:p>
          <a:p>
            <a:r>
              <a:t>First: in silico screening produces prioritized laboratory hypotheses, not confirmed medicines. Neither machine learning nor quantum optimization can replace wet-lab biochemical validation.</a:t>
            </a:r>
          </a:p>
          <a:p>
            <a:r>
              <a:t>Second: our activity model is strictly trained on human BACE-1; it cannot be applied to other enzymes without retraining.</a:t>
            </a:r>
          </a:p>
          <a:p>
            <a:r>
              <a:t>Third: we make no exaggerated claims of quantum supremacy. On contemporary NISQ simulators, QAOA cannot beat classical sorting for unconstrained linear constraints. Real quantum speedup will require non-convex pairwise chemical interaction matrices running on fault-tolerant hardware.</a:t>
            </a:r>
          </a:p>
          <a:p>
            <a:r>
              <a:t>Maintaining this scientific honesty is essential for credible academic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summarizes our conclusions and future roadmap.</a:t>
            </a:r>
          </a:p>
          <a:p>
            <a:r>
              <a:t>In summary, we have built a complete, runnable, tested hybrid quantum-classical drug screening platform.</a:t>
            </a:r>
          </a:p>
          <a:p>
            <a:r>
              <a:t>We achieved strong predictive accuracy with Random Forest (AUC 0.8794), mapped the candidate selection problem into an Ising Hamiltonian, and verified that QAOA achieves 100% optimality on Qiskit Aer.</a:t>
            </a:r>
          </a:p>
          <a:p/>
          <a:p>
            <a:r>
              <a:t>Looking forward, we have identified exciting research extensions:</a:t>
            </a:r>
          </a:p>
          <a:p>
            <a:r>
              <a:t>First, adding Tanimoto similarity penalties into off-diagonal QUBO terms to enforce chemical scaffold diversity.</a:t>
            </a:r>
          </a:p>
          <a:p>
            <a:r>
              <a:t>Second, using XY-mixers that restrict quantum evolution strictly within the feasible K-subspace.</a:t>
            </a:r>
          </a:p>
          <a:p>
            <a:r>
              <a:t>Third, deploying this circuit onto physical IBM Quantum hardware using Qiskit Runtime Primitives.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lists the primary academic literature and open-source frameworks cited throughout this work, including Farhi et al. for QAOA, Subramanian et al. for the MoleculeNet benchmark, Lipinski et al. for drug-likeness rules, Andrew Lucas for QUBO-Ising formulations, and John Preskill for NISQ quantum computing principles.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very much for your time, attention, and valuable feedback.</a:t>
            </a:r>
          </a:p>
          <a:p>
            <a:r>
              <a:t>I would be delighted to answer any questions regarding our methodology, the QUBO derivation, the QAOA circuit implementation, or our empirical benchmarking results.</a:t>
            </a:r>
          </a:p>
          <a:p>
            <a:r>
              <a:t>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972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Calibri"/>
              </a:defRPr>
            </a:pPr>
            <a:r>
              <a:t>QUANTUM COMPUTING CAPSTONE PROJECT</a:t>
            </a:r>
          </a:p>
          <a:p>
            <a:pPr>
              <a:spcBef>
                <a:spcPts val="1000"/>
              </a:spcBef>
              <a:defRPr sz="3000" b="1">
                <a:solidFill>
                  <a:srgbClr val="FFFFFF"/>
                </a:solidFill>
                <a:latin typeface="Trebuchet MS"/>
              </a:defRPr>
            </a:pPr>
            <a:r>
              <a:t>Quantum Computing-Based Drug Screening System to Identify Promising Drug Candidates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  <a:latin typeface="Calibri"/>
              </a:defRPr>
            </a:pPr>
            <a:r>
              <a:t>A Hybrid Machine Learning and QAOA Combinatorial Optimization Framework for BACE-1 Inhibitor Discovery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103327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11480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Student Name: [Candidate Name / Roll Number]   |   Department: Computer Science / Quantum Engineering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  <a:latin typeface="Calibri"/>
              </a:defRPr>
            </a:pPr>
            <a:r>
              <a:t>Institution: [University / Institute Name]   |   Academic Year: 2026</a:t>
            </a:r>
          </a:p>
          <a:p>
            <a:pPr>
              <a:spcBef>
                <a:spcPts val="1200"/>
              </a:spcBef>
              <a:defRPr sz="1200">
                <a:solidFill>
                  <a:srgbClr val="0D9488"/>
                </a:solidFill>
                <a:latin typeface="Calibri"/>
              </a:defRPr>
            </a:pPr>
            <a:r>
              <a:t>Core Tech Stack: Python 3.11  •  Qiskit 2.5  •  RDKit 2024+  •  Scikit-Learn  •  Qiskit Aer Simulator  • 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BIOLOGICAL &amp; COMPUTATIONAL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Problem Statement: The Combinatorial Drug Discovery Bottleneck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1. Biological Target: BACE-1 &amp; Alzheimer's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• Enzyme Function: Human beta-secretase 1 (BACE-1) is an aspartyl protease that cleaves Amyloid Precursor Protein (APP) at the beta-site.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• Pathology: Rate-limiting step generating neurotoxic Amyloid-beta (A-beta 42) peptides that aggregate into Alzheimer's senile plaques [Subramanian et al., 2018].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• Therapeutic Challenge: Inhibitors must achieve high potency (IC50 &lt; 1 uM) while crossing the blood-brain barrier (demanding strict Lipinski Rule of 5 adherence).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2. The Fixed-Budget Selection Dilemma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• Laboratory Bottleneck: High-throughput virtual screening flags thousands of prospective hits. However, expensive synthesis and crystallography permit advancing only K candidates (K &lt;&lt; N).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• Multi-Objective Trade-Off: Selecting purely on binding affinity neglects molecular weight, lipophilicity (LogP), and toxicity constraints.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• Combinatorial Nature: Selecting K candidates out of N is an NP-hard subset selection problem under non-linear chemical and diversity interaction constraints.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• Quantum Opportunity: Mapping candidate selection to Quadratic Unconstrained Binary Optimization (QUBO) provides an ideal benchmark for hybrid quantum algorithms.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END-TO-END 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Objectives and Proposed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Key Project Objectives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✔ Load real MoleculeNet BACE data (1,513 compounds) without fabricated observations.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✔ Extract 512-bit Morgan fingerprints and Lipinski physicochemical descriptors.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✔ Train a leakage-free Random Forest activity prediction model.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✔ Formulate candidate selection as a QUBO with quadratic cardinality penalties.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✔ Implement genuine QAOA on Qiskit Aer simulator with depth p.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✔ Benchmark against Classical Top-K and Exact Brute-Force solvers.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✔ Deliver an interactive Streamlit UI with exportable results.</a:t>
            </a:r>
          </a:p>
        </p:txBody>
      </p:sp>
      <p:pic>
        <p:nvPicPr>
          <p:cNvPr id="7" name="Picture 6" descr="architectur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6309360" cy="264993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120640" y="4572000"/>
            <a:ext cx="6309360" cy="1645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466344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Trebuchet MS"/>
              </a:defRPr>
            </a:pPr>
            <a:r>
              <a:t>Hybrid Classical-Quantum Synergy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Classical ML is optimal for training across large datasets (1,500+ compounds).</a:t>
            </a:r>
            <a:br/>
            <a:r>
              <a:t>• Quantum QAOA is deployed for combinatorial decision optimization across candidate subsets (N qubits), preventing classical exponential explosion as constraints grow.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ALGORITHM WORKFLOW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Proposed Algorithm: Step-by-Step Screening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240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Trebuchet MS"/>
              </a:defRPr>
            </a:pPr>
            <a:r>
              <a:t>Step 1: Data QC &amp; Featurization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Dataset: MoleculeNet BACE (1,513 valid records; 691 Active, 822 Inactive).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RDKit Validation: Canonical SMILES parsing, valence checks, deduplication.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ECFP4 Fingerprints: 512-bit binary structural vectors.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Descriptors: MW, LogP, HBD, HBA, RotB, TPSA, Lipinski violations.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1460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240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Trebuchet MS"/>
              </a:defRPr>
            </a:pPr>
            <a:r>
              <a:t>Step 2: ML Activity Model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Partition: 80% Train (1,210), 20% Test (303).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Leakage Prevention: StandardScaler fitted exclusively on training set.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Random Forest: 150 estimators with balanced class weighting.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Output: Estimated probability P(active) in [0, 1].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1460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2240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Trebuchet MS"/>
              </a:defRPr>
            </a:pPr>
            <a:r>
              <a:t>Step 3: Multi-Objective Score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Composite utility function: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s_i = 0.60*P(act) + 0.25*Norm(pIC50) + 0.15*LipinskiPassRate.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Calibrated in [0, 1].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Harmonizes biochemical potency with drug-likeness.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51460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45920"/>
            <a:ext cx="2240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Trebuchet MS"/>
              </a:defRPr>
            </a:pPr>
            <a:r>
              <a:t>Step 4: Quantum Optimization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Formulate QUBO with penalty A*(sum x_i - K)^2.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Map binary x_i to Pauli-Z spin operators.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Construct depth-p QAOA circuit in Qiskit.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Optimize angles (gamma, beta) via COBYLA.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Sample 1024 shots on AerSimulator.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COMBINATORIAL OPTIMIZATION MATHEMATICS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QUBO Mathematical Formulation &amp; Analytical Ising Mapping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1. Constrained Selection Objective</a:t>
            </a:r>
          </a:p>
          <a:p>
            <a:pPr>
              <a:spcBef>
                <a:spcPts val="400"/>
              </a:spcBef>
              <a:defRPr sz="1200" b="1">
                <a:solidFill>
                  <a:srgbClr val="2563EB"/>
                </a:solidFill>
                <a:latin typeface="Courier New"/>
              </a:defRPr>
            </a:pPr>
            <a:r>
              <a:t>Maximize:  sum_{i=1}^N  s_i * x_i</a:t>
            </a:r>
            <a:br/>
            <a:r>
              <a:t>Subject to: sum_{i=1}^N  x_i = K,   x_i in {0, 1}</a:t>
            </a:r>
          </a:p>
          <a:p>
            <a:pPr>
              <a:spcBef>
                <a:spcPts val="1200"/>
              </a:spcBef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2. Unconstrained Penalty Formulation (QUBO)</a:t>
            </a:r>
          </a:p>
          <a:p>
            <a:pPr>
              <a:spcBef>
                <a:spcPts val="400"/>
              </a:spcBef>
              <a:defRPr sz="1200" b="1">
                <a:solidFill>
                  <a:srgbClr val="DC2626"/>
                </a:solidFill>
                <a:latin typeface="Courier New"/>
              </a:defRPr>
            </a:pPr>
            <a:r>
              <a:t>E(x) = -sum(s_i * x_i) + A * (sum x_i - K)^2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Courier New"/>
              </a:defRPr>
            </a:pPr>
            <a:r>
              <a:t>Expanding via binary identity x_i^2 = x_i:</a:t>
            </a:r>
            <a:br/>
            <a:r>
              <a:t>E(x) = sum_i [-s_i + A(1 - 2K)] x_i + sum_{i &lt; j} 2A x_i x_j + A*K^2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Penalty Condition: A &gt;= 1.5 * max(s_i) guarantees that any invalid cardinality selection costs strictly more than any score gain.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3. Analytical Mapping to Pauli-Z Spins</a:t>
            </a:r>
          </a:p>
          <a:p>
            <a:pPr>
              <a:spcBef>
                <a:spcPts val="400"/>
              </a:spcBef>
              <a:defRPr sz="1150">
                <a:solidFill>
                  <a:srgbClr val="2563EB"/>
                </a:solidFill>
                <a:latin typeface="Courier New"/>
              </a:defRPr>
            </a:pPr>
            <a:r>
              <a:t>Map binary variable x_i to Pauli-Z spin operator:</a:t>
            </a:r>
            <a:br/>
            <a:r>
              <a:t>x_i = (I - Z_i) / 2,   where Z_i in {+1, -1}</a:t>
            </a:r>
            <a:br/>
            <a:r>
              <a:t>|0&gt; -&gt; +1 (unselected),  |1&gt; -&gt; -1 (selected)</a:t>
            </a:r>
          </a:p>
          <a:p>
            <a:pPr>
              <a:spcBef>
                <a:spcPts val="1000"/>
              </a:spcBef>
              <a:defRPr sz="1200" b="1">
                <a:solidFill>
                  <a:srgbClr val="0D9488"/>
                </a:solidFill>
                <a:latin typeface="Courier New"/>
              </a:defRPr>
            </a:pPr>
            <a:r>
              <a:t>Cost Hamiltonian Decomposition:</a:t>
            </a:r>
            <a:br/>
            <a:r>
              <a:t>H_C = sum_{i=1}^N h_i Z_i + sum_{i &lt; j} J_ij Z_i Z_j + C * I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Exact Analytical Coefficients:</a:t>
            </a:r>
            <a:br/>
            <a:r>
              <a:t>• Longitudinal Fields: h_i = s_i / 2 + (A / 2) * (2K - N)</a:t>
            </a:r>
            <a:br/>
            <a:r>
              <a:t>• Ising Couplings:      J_ij = A / 2  (for all i &lt; j)</a:t>
            </a:r>
            <a:br/>
            <a:r>
              <a:t>• Constant Offset:     C = A*K^2 - 0.5*sum(s_i) + ...</a:t>
            </a:r>
            <a:br/>
            <a:br/>
            <a:r>
              <a:t>Result: Eigenvalues &lt;x|H_C|x&gt; match E(x) identically across all 2^N basis states down to 10^-5 precision!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QUANTUM CIRCUIT REALIZATION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QAOA Quantum Circuit Architecture &amp; Pseudocode</a:t>
            </a:r>
          </a:p>
        </p:txBody>
      </p:sp>
      <p:pic>
        <p:nvPicPr>
          <p:cNvPr id="5" name="Picture 4" descr="qaoa_circui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2438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114800"/>
            <a:ext cx="54864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Trebuchet MS"/>
              </a:defRPr>
            </a:pPr>
            <a:r>
              <a:t>Circuit Components (Qiskit 2.5)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1. State Preparation: |+&gt;^N via Hadamard gates on all N qubits.</a:t>
            </a:r>
            <a:br/>
            <a:r>
              <a:t>2. Cost Unitary: U(C, gamma) = exp(-i * gamma * H_C) via RZ(2*gamma*h_i) and RZZ(2*gamma*J_ij).</a:t>
            </a:r>
            <a:br/>
            <a:r>
              <a:t>3. Mixer Unitary: U(B, beta) = exp(-i * beta * H_B) via RX(2*beta) gates on all qubits.</a:t>
            </a:r>
            <a:br/>
            <a:r>
              <a:t>4. Depth p: Alternating cost and mixer layers variationally tuned.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3776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  <a:latin typeface="Trebuchet MS"/>
              </a:defRPr>
            </a:pPr>
            <a:r>
              <a:t>Algorithm Pseudocode: QAOA Screening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Courier New"/>
              </a:defRPr>
            </a:pPr>
            <a:r>
              <a:t>Input:  Scores s_i, Budget K, Depth p, Shots M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Courier New"/>
              </a:defRPr>
            </a:pPr>
            <a:r>
              <a:t>Output: Selected Candidates, Best Energy E*</a:t>
            </a:r>
          </a:p>
          <a:p>
            <a:pPr>
              <a:spcBef>
                <a:spcPts val="100"/>
              </a:spcBef>
              <a:defRPr sz="950">
                <a:solidFill>
                  <a:srgbClr val="FFFFFF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defRPr sz="950">
                <a:solidFill>
                  <a:srgbClr val="FFFFFF"/>
                </a:solidFill>
                <a:latin typeface="Courier New"/>
              </a:defRPr>
            </a:pPr>
            <a:r>
              <a:t>1: Calculate penalty A = 2.0 * max(s_i)</a:t>
            </a:r>
          </a:p>
          <a:p>
            <a:pPr>
              <a:spcBef>
                <a:spcPts val="100"/>
              </a:spcBef>
              <a:defRPr sz="950">
                <a:solidFill>
                  <a:srgbClr val="FFFFFF"/>
                </a:solidFill>
                <a:latin typeface="Courier New"/>
              </a:defRPr>
            </a:pPr>
            <a:r>
              <a:t>2: Derive Ising fields h_i and couplings J_ij</a:t>
            </a:r>
          </a:p>
          <a:p>
            <a:pPr>
              <a:spcBef>
                <a:spcPts val="100"/>
              </a:spcBef>
              <a:defRPr sz="950">
                <a:solidFill>
                  <a:srgbClr val="FFFFFF"/>
                </a:solidFill>
                <a:latin typeface="Courier New"/>
              </a:defRPr>
            </a:pPr>
            <a:r>
              <a:t>3: Initialize parameters (gamma, beta) in [0, pi]</a:t>
            </a:r>
          </a:p>
          <a:p>
            <a:pPr>
              <a:spcBef>
                <a:spcPts val="100"/>
              </a:spcBef>
              <a:defRPr sz="950">
                <a:solidFill>
                  <a:srgbClr val="FFFFFF"/>
                </a:solidFill>
                <a:latin typeface="Courier New"/>
              </a:defRPr>
            </a:pPr>
            <a:r>
              <a:t>4: Define Expectation Function &lt;H_C&gt;(gamma, beta):</a:t>
            </a:r>
          </a:p>
          <a:p>
            <a:pPr>
              <a:spcBef>
                <a:spcPts val="100"/>
              </a:spcBef>
              <a:defRPr sz="950">
                <a:solidFill>
                  <a:srgbClr val="FFFFFF"/>
                </a:solidFill>
                <a:latin typeface="Courier New"/>
              </a:defRPr>
            </a:pPr>
            <a:r>
              <a:t>     qc &lt;- QuantumCircuit(N)</a:t>
            </a:r>
          </a:p>
          <a:p>
            <a:pPr>
              <a:spcBef>
                <a:spcPts val="100"/>
              </a:spcBef>
              <a:defRPr sz="950">
                <a:solidFill>
                  <a:srgbClr val="FFFFFF"/>
                </a:solidFill>
                <a:latin typeface="Courier New"/>
              </a:defRPr>
            </a:pPr>
            <a:r>
              <a:t>     Apply H on all qubits</a:t>
            </a:r>
          </a:p>
          <a:p>
            <a:pPr>
              <a:spcBef>
                <a:spcPts val="100"/>
              </a:spcBef>
              <a:defRPr sz="950">
                <a:solidFill>
                  <a:srgbClr val="FFFFFF"/>
                </a:solidFill>
                <a:latin typeface="Courier New"/>
              </a:defRPr>
            </a:pPr>
            <a:r>
              <a:t>     For layer l = 1 to p do:</a:t>
            </a:r>
          </a:p>
          <a:p>
            <a:pPr>
              <a:spcBef>
                <a:spcPts val="100"/>
              </a:spcBef>
              <a:defRPr sz="950">
                <a:solidFill>
                  <a:srgbClr val="FFFFFF"/>
                </a:solidFill>
                <a:latin typeface="Courier New"/>
              </a:defRPr>
            </a:pPr>
            <a:r>
              <a:t>       Apply RZ(2*gamma_l*h_i) &amp; RZZ(2*gamma_l*J_ij)</a:t>
            </a:r>
          </a:p>
          <a:p>
            <a:pPr>
              <a:spcBef>
                <a:spcPts val="100"/>
              </a:spcBef>
              <a:defRPr sz="950">
                <a:solidFill>
                  <a:srgbClr val="FFFFFF"/>
                </a:solidFill>
                <a:latin typeface="Courier New"/>
              </a:defRPr>
            </a:pPr>
            <a:r>
              <a:t>       Apply RX(2*beta_l) on all qubits</a:t>
            </a:r>
          </a:p>
          <a:p>
            <a:pPr>
              <a:spcBef>
                <a:spcPts val="100"/>
              </a:spcBef>
              <a:defRPr sz="950">
                <a:solidFill>
                  <a:srgbClr val="FFFFFF"/>
                </a:solidFill>
                <a:latin typeface="Courier New"/>
              </a:defRPr>
            </a:pPr>
            <a:r>
              <a:t>     Return &lt;psi|H_C|psi&gt;</a:t>
            </a:r>
          </a:p>
          <a:p>
            <a:pPr>
              <a:spcBef>
                <a:spcPts val="100"/>
              </a:spcBef>
              <a:defRPr sz="950">
                <a:solidFill>
                  <a:srgbClr val="FFFFFF"/>
                </a:solidFill>
                <a:latin typeface="Courier New"/>
              </a:defRPr>
            </a:pPr>
            <a:r>
              <a:t>5: (gamma*, beta*) &lt;- COBYLA.minimize(&lt;H_C&gt;)</a:t>
            </a:r>
          </a:p>
          <a:p>
            <a:pPr>
              <a:spcBef>
                <a:spcPts val="100"/>
              </a:spcBef>
              <a:defRPr sz="950">
                <a:solidFill>
                  <a:srgbClr val="FFFFFF"/>
                </a:solidFill>
                <a:latin typeface="Courier New"/>
              </a:defRPr>
            </a:pPr>
            <a:r>
              <a:t>6: Counts &lt;- AerSimulator.run(qc(gamma*, beta*), shots=M)</a:t>
            </a:r>
          </a:p>
          <a:p>
            <a:pPr>
              <a:spcBef>
                <a:spcPts val="100"/>
              </a:spcBef>
              <a:defRPr sz="950">
                <a:solidFill>
                  <a:srgbClr val="FFFFFF"/>
                </a:solidFill>
                <a:latin typeface="Courier New"/>
              </a:defRPr>
            </a:pPr>
            <a:r>
              <a:t>7: x* &lt;- Best feasible bitstring from Counts</a:t>
            </a:r>
          </a:p>
          <a:p>
            <a:pPr>
              <a:spcBef>
                <a:spcPts val="100"/>
              </a:spcBef>
              <a:defRPr sz="950">
                <a:solidFill>
                  <a:srgbClr val="FFFFFF"/>
                </a:solidFill>
                <a:latin typeface="Courier New"/>
              </a:defRPr>
            </a:pPr>
            <a:r>
              <a:t>8: If x* infeasible: x* &lt;- GreedyRepair(x*, K)</a:t>
            </a:r>
          </a:p>
          <a:p>
            <a:pPr>
              <a:spcBef>
                <a:spcPts val="100"/>
              </a:spcBef>
              <a:defRPr sz="950">
                <a:solidFill>
                  <a:srgbClr val="FFFFFF"/>
                </a:solidFill>
                <a:latin typeface="Courier New"/>
              </a:defRPr>
            </a:pPr>
            <a:r>
              <a:t>9: Return x*, E(x*), FeasibleRate(Counts)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THEORETICAL &amp; RUNTIME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Algorithm Complexity and NISQ Feasibility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2194560"/>
                <a:gridCol w="2194560"/>
                <a:gridCol w="2103120"/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Time Complexity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Space / Memory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QPU / Simulator Scalability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Feasibility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Top-K Greedy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Instantaneous on CPU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Guaranteed (100%)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Exact QUBO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O(2^N)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Intractable for N &gt; 30 on 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Guaranteed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QAOA (Aer Sim)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O(N_iter * 2^N)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O(2^N) state amplitudes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Limited by 2^N RAM (N &lt;= 20)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Probabilistic (45.7% raw)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QAOA (Real QPU)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O(N_iter *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O(N) physical qubits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O(p * N^2) circuit 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Probabilistic sampling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Why Classical Simulator Limits Matter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Storing statevector amplitudes requires 2^N * 16 bytes.</a:t>
            </a:r>
            <a:br/>
            <a:r>
              <a:t>• N = 10 qubits: ~16 KB RAM.</a:t>
            </a:r>
            <a:br/>
            <a:r>
              <a:t>• N = 30 qubits: ~16 GB RAM.</a:t>
            </a:r>
            <a:br/>
            <a:r>
              <a:t>• N = 40 qubits: ~16 TB RAM.</a:t>
            </a:r>
            <a:br/>
            <a:r>
              <a:t>• Hence, running QAOA on candidate subsets (N = 8 to 12) is mathematically necessary for local simulation.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Where Quantum Advantage Actually Emerges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For unconstrained linear cardinality, classical sorting is O(N log N).</a:t>
            </a:r>
            <a:br/>
            <a:r>
              <a:t>• However, when complex pairwise chemical interactions (scaffold diversity penalties, cross-reactivity) are added into Q_ij != const, the problem becomes NP-hard and non-convex.</a:t>
            </a:r>
            <a:br/>
            <a:r>
              <a:t>• That is the exact regime where quantum heuristic sampling is theorized to provide polynomial or quadratic advantages.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MACHINE LEARNING CLASSIFIER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Stage 1 Results: Biological Activity Prediction Model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3474720" cy="2895600"/>
          </a:xfrm>
          <a:prstGeom prst="rect">
            <a:avLst/>
          </a:prstGeom>
        </p:spPr>
      </p:pic>
      <p:pic>
        <p:nvPicPr>
          <p:cNvPr id="6" name="Picture 5" descr="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371600"/>
            <a:ext cx="3474720" cy="2895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Measured Model Metrics</a:t>
            </a:r>
          </a:p>
          <a:p>
            <a:pPr>
              <a:spcBef>
                <a:spcPts val="300"/>
              </a:spcBef>
              <a:defRPr sz="1050" b="0">
                <a:solidFill>
                  <a:srgbClr val="475569"/>
                </a:solidFill>
                <a:latin typeface="Calibri"/>
              </a:defRPr>
            </a:pPr>
            <a:r>
              <a:t>Test Samples: 303 compounds</a:t>
            </a:r>
          </a:p>
          <a:p>
            <a:pPr>
              <a:spcBef>
                <a:spcPts val="3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Test Accuracy: 78.55% (238 / 303)</a:t>
            </a:r>
          </a:p>
          <a:p>
            <a:pPr>
              <a:spcBef>
                <a:spcPts val="3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ROC-AUC Score: 0.8794</a:t>
            </a:r>
          </a:p>
          <a:p>
            <a:pPr>
              <a:spcBef>
                <a:spcPts val="300"/>
              </a:spcBef>
              <a:defRPr sz="1050" b="0">
                <a:solidFill>
                  <a:srgbClr val="475569"/>
                </a:solidFill>
                <a:latin typeface="Calibri"/>
              </a:defRPr>
            </a:pPr>
            <a:r>
              <a:t>Precision: 75.89%</a:t>
            </a:r>
          </a:p>
          <a:p>
            <a:pPr>
              <a:spcBef>
                <a:spcPts val="300"/>
              </a:spcBef>
              <a:defRPr sz="1050" b="0">
                <a:solidFill>
                  <a:srgbClr val="475569"/>
                </a:solidFill>
                <a:latin typeface="Calibri"/>
              </a:defRPr>
            </a:pPr>
            <a:r>
              <a:t>Recall (Sensitivity): 77.54%</a:t>
            </a:r>
          </a:p>
          <a:p>
            <a:pPr>
              <a:spcBef>
                <a:spcPts val="3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F1-Score: 0.7670</a:t>
            </a:r>
          </a:p>
          <a:p>
            <a:pPr>
              <a:spcBef>
                <a:spcPts val="300"/>
              </a:spcBef>
              <a:defRPr sz="1050" b="0">
                <a:solidFill>
                  <a:srgbClr val="475569"/>
                </a:solidFill>
                <a:latin typeface="Calibri"/>
              </a:defRPr>
            </a:pPr>
            <a:r>
              <a:t>True Negatives: 131 compounds</a:t>
            </a:r>
          </a:p>
          <a:p>
            <a:pPr>
              <a:spcBef>
                <a:spcPts val="300"/>
              </a:spcBef>
              <a:defRPr sz="1050" b="0">
                <a:solidFill>
                  <a:srgbClr val="475569"/>
                </a:solidFill>
                <a:latin typeface="Calibri"/>
              </a:defRPr>
            </a:pPr>
            <a:r>
              <a:t>True Positives: 107 compounds</a:t>
            </a:r>
          </a:p>
          <a:p>
            <a:pPr>
              <a:spcBef>
                <a:spcPts val="300"/>
              </a:spcBef>
              <a:defRPr sz="1050" b="0">
                <a:solidFill>
                  <a:srgbClr val="475569"/>
                </a:solidFill>
                <a:latin typeface="Calibri"/>
              </a:defRPr>
            </a:pPr>
            <a:r>
              <a:t>False Positives: 34 compounds</a:t>
            </a:r>
          </a:p>
          <a:p>
            <a:pPr>
              <a:spcBef>
                <a:spcPts val="300"/>
              </a:spcBef>
              <a:defRPr sz="1050" b="0">
                <a:solidFill>
                  <a:srgbClr val="475569"/>
                </a:solidFill>
                <a:latin typeface="Calibri"/>
              </a:defRPr>
            </a:pPr>
            <a:r>
              <a:t>False Negatives: 31 compounds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EMPIRICAL OPTIMIZATION BENCHMARK (N=8, K=3)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Stage 2 Results: QAOA vs Classical Benchmarking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463040"/>
                <a:gridCol w="1463040"/>
                <a:gridCol w="137160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Optimization Method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QUBO Energy E(x)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Score Sum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Feasible (K=3)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Optimality Gap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Overlap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Runtime (s)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QAOA (Qiskit Aer)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-1.7179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1.7179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Yes (K=3)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0.5585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Top-K Greedy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-1.7179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1.7179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Yes (K=3)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0.0015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Exact Classical QUBO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-1.7179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1.7179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Yes (K=3)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0.0052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qaoa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83280"/>
            <a:ext cx="5212080" cy="3350623"/>
          </a:xfrm>
          <a:prstGeom prst="rect">
            <a:avLst/>
          </a:prstGeom>
        </p:spPr>
      </p:pic>
      <p:pic>
        <p:nvPicPr>
          <p:cNvPr id="7" name="Picture 6" descr="measuremen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383280"/>
            <a:ext cx="5212080" cy="29317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PRIORITIZED CANDIDATES FROM OPTIMAL BITSTRING 10100010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Selected Drug Leads: Chemical Structure &amp; Property Profiling</a:t>
            </a:r>
          </a:p>
        </p:txBody>
      </p:sp>
      <p:pic>
        <p:nvPicPr>
          <p:cNvPr id="5" name="Picture 4" descr="selected_molec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17556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371600"/>
            <a:ext cx="38404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Prioritized Candidate Profiles</a:t>
            </a:r>
          </a:p>
          <a:p>
            <a:pPr>
              <a:spcBef>
                <a:spcPts val="800"/>
              </a:spcBef>
              <a:defRPr sz="1200" b="1">
                <a:solidFill>
                  <a:srgbClr val="0D9488"/>
                </a:solidFill>
                <a:latin typeface="Trebuchet MS"/>
              </a:defRPr>
            </a:pPr>
            <a:r>
              <a:t>MOL_BACE_558 (Top Lead)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Predicted P(active): 87.2%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Binding Affinity (pIC50): 7.59 (~26 nM IC50)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Lipinski Pass Rate: 100% (0 violations)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Composite Score: 0.923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t>MOL_BACE_1111 (Lead 2)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Predicted P(active): 19.7%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Binding Affinity (pIC50): 6.03 (~0.9 uM)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Lipinski Pass Rate: 100% (0 violations)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Composite Score: 0.423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t>MOL_BACE_1121 (Lead 3)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Predicted P(active): 11.5%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Binding Affinity (pIC50): 6.00 (~1.0 uM)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Lipinski Pass Rate: 100% (0 violations)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Composite Score: 0.372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SYSTEM INTEGRATION &amp;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Implementation &amp; Full-Stack Streamlit Web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Trebuchet MS"/>
              </a:defRPr>
            </a:pPr>
            <a:r>
              <a:t>Modular Python Architecture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src/molecular_features.py: RDKit descriptor calculation and SVG rendering.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src/data_loader.py: Automated download, cleaning, deduplication, and sampling.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src/activity_model.py: Random Forest classifier and model persistence.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src/qubo_formulation.py: QUBO matrix and Ising mapping.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src/qaoa_optimizer.py: Qiskit 2.5 parameterized QAOA circuit on Aer.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src/classical_baseline.py: Top-K and Exact QUBO enumeration.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Automated Tests: 21 passing pytest unit and integration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5448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Trebuchet MS"/>
              </a:defRPr>
            </a:pPr>
            <a:r>
              <a:t>Streamlit Web Dashboard (app.py)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Page 1: Dashboard: Project KPIs, target biology, and architecture flow.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Page 2: Dataset Explorer: Searchable table with 2D chemical structure rendering.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Page 3: Activity Prediction: Real-time inference for custom SMILES inputs.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Page 4: Quantum Screening: Live circuit execution with convergence plots.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Page 5: Classical vs Quantum: Side-by-side benchmarking and optimality gap.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Page 6: Results &amp; Reports: CSV candidate export and downloadable JSON report.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55448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  <a:latin typeface="Trebuchet MS"/>
              </a:defRPr>
            </a:pPr>
            <a:r>
              <a:t>Quality Control &amp; Reproducibility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Reproducibility: Config file (config.yaml) and fixed random seeds.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Zero Mock Buttons: Every button connects to functioning backend code.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Safe Data Upload: Custom CSV upload handles malformed files without crashing.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Exportable Outputs: Immediate CSV and JSON report downloads.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Continuous Dev: Tested on Python 3.11 with pinned requirements.txt.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RESEARCH RIGOR &amp; SCIENTIFIC 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Scientific Limitations &amp; Ethical Disclaimers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Trebuchet MS"/>
              </a:defRPr>
            </a:pPr>
            <a:r>
              <a:t>1. In Silico Hypotheses vs Wet-Lab Reality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Quantum optimization solves a mathematical subset selection problem under defined utility scores. It does NOT prove drug safety, non-toxicity, bioavailability, binding specificity, or clinical efficacy. Computational screening provides prioritized research hypotheses that must undergo rigorous in vitro assays.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106984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Trebuchet MS"/>
              </a:defRPr>
            </a:pPr>
            <a:r>
              <a:t>2. Target Specificity &amp; Generalizability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The activity prediction model is trained specifically on human BACE-1 in vitro assay data. It does NOT generalize to other aspartyl proteases (such as Cathepsin D or Renin) or other disease targets without dedicated retraining on respective benchmark datasets.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6984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Trebuchet MS"/>
              </a:defRPr>
            </a:pPr>
            <a:r>
              <a:t>3. Absence of Unsubstantiated Quantum Speedup Claims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On classical quantum simulators and current NISQ hardware, QAOA does not outperform classical greedy heuristics for simple linear cardinality problems. Practical quantum advantage requires non-convex landscapes with pairwise structural or chemical cross-reactivity interactions executed on fault-tolerant hardware.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SUMMARY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Conclusion &amp; Future Research Directions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Trebuchet MS"/>
              </a:defRPr>
            </a:pPr>
            <a:r>
              <a:t>Key Project Achievements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✔ Delivered a complete, runnable, tested hybrid quantum-classical drug screening pipeline.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✔ Trained Random Forest activity model on MoleculeNet BACE achieving 0.8794 ROC-AUC and 78.55% test accuracy.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✔ Formulated fixed-budget selection as a QUBO and derived analytical Ising Hamiltonian coefficients h_i and J_ij.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✔ Successfully executed QAOA on Qiskit Aer simulator, achieving 100% solution optimality (0.0000 gap) and 45.7% feasible sampling rate.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✔ Built a 6-page interactive Streamlit web app with 2D chemical structure rendering and CSV exports.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✔ Validated all modules with 21 passing automated tests in pytest.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Trebuchet MS"/>
              </a:defRPr>
            </a:pPr>
            <a:r>
              <a:t>Future Research Roadmap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➔ Non-Linear Diversity Penalties: Incorporate Tanimoto similarity penalties into off-diagonal Q_ij terms to actively penalize selecting chemically redundant analogs.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➔ Subspace-Preserving XY Mixers: Implement XY-mixer Hamiltonians that preserve the sum(x_i)=K constraint within the quantum state evolution, achieving 100% feasible sampling by design.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➔ Physical QPU Deployment: Execute the variational circuit on IBM Quantum Eagle / Heron superconducting processors via Qiskit Runtime Primitives with zero-noise extrapolation (ZNE).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➔ Multi-Target Protease Profiling: Extend the ML featurization pipeline to panel screening across related aspartyl proteases to optimize drug selectivity.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References &amp; Scientific Citations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[1] Farhi, E., Goldstone, J., &amp; Gutmann, S. (2014). A Quantum Approximate Optimization Algorithm. arXiv:1411.4028 [quant-ph].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[2] Subramanian, G., et al. (2018). MoleculeNet: A Benchmark for Molecular Machine Learning. Chemical Science, 9(2), 513-530.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[3] Lipinski, C. A., Lombardo, F., Dominy, B. W., &amp; Feeney, P. J. (2001). Experimental and computational approaches to estimate solubility and permeability in drug discovery. Advanced Drug Delivery Reviews, 46(1-3), 3-26.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[4] Lucas, A. (2014). Ising formulations of many NP problems. Frontiers in Physics, 2, 5.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[5] Preskill, J. (2018). Quantum Computing in the NISQ era and beyond. Quantum, 2, 79.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[6] Landrum, G., et al. (2024). RDKit: Open-source cheminformatics toolkit. http://www.rdkit.org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[7] Qiskit Contributors (2025). Qiskit: An Open-source Framework for Quantum Computing. Zenodo. doi:10.5281/zenodo.2562110.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Calibri"/>
              </a:defRPr>
            </a:pPr>
            <a:r>
              <a:t>CAPSTONE PRESENTATION COMPLETED</a:t>
            </a:r>
          </a:p>
          <a:p>
            <a:pPr>
              <a:spcBef>
                <a:spcPts val="1000"/>
              </a:spcBef>
              <a:defRPr sz="4400" b="1">
                <a:solidFill>
                  <a:srgbClr val="FFFFFF"/>
                </a:solidFill>
                <a:latin typeface="Trebuchet MS"/>
              </a:defRPr>
            </a:pPr>
            <a:r>
              <a:t>Thank You!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  <a:latin typeface="Calibri"/>
              </a:defRPr>
            </a:pPr>
            <a:r>
              <a:t>Quantum Computing-Based Drug Screening System to Identify Promising Drug Candidates</a:t>
            </a:r>
          </a:p>
          <a:p>
            <a:pPr>
              <a:spcBef>
                <a:spcPts val="2000"/>
              </a:spcBef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Questions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846320"/>
            <a:ext cx="1033272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93776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Repository: [GitHub Link / Project Directory]   |   Interactive Web UI: http://localhost:8501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Presenter: [Student Name]  •  Contact: [Email Address]  •  Supervisor: [Faculty Advisor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